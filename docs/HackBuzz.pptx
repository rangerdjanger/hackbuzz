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46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1465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286000"/>
            <a:ext cx="6400800" cy="6400800"/>
          </a:xfrm>
          <a:prstGeom prst="ellipse">
            <a:avLst/>
          </a:prstGeom>
          <a:solidFill>
            <a:srgbClr val="11163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9144000" y="-1371600"/>
            <a:ext cx="4572000" cy="4572000"/>
          </a:xfrm>
          <a:prstGeom prst="ellipse">
            <a:avLst/>
          </a:prstGeom>
          <a:solidFill>
            <a:srgbClr val="161B3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-1828800" y="5029200"/>
            <a:ext cx="4572000" cy="4572000"/>
          </a:xfrm>
          <a:prstGeom prst="ellipse">
            <a:avLst/>
          </a:prstGeom>
          <a:solidFill>
            <a:srgbClr val="11163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8096" cy="5486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6" name="Image 0" descr="C:\code\HackBuzz\docs\_imgs\image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55848" y="1188720"/>
            <a:ext cx="5486400" cy="1828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270248" y="3200400"/>
            <a:ext cx="3657600" cy="2286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/>
          <p:nvPr/>
        </p:nvSpPr>
        <p:spPr>
          <a:xfrm>
            <a:off x="1828800" y="3383280"/>
            <a:ext cx="85404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Real-Time Hackathon Engagement Platform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828800" y="4023360"/>
            <a:ext cx="8540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D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quizzes  •  Live surveys  •  Instant analytics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303520" y="5486400"/>
            <a:ext cx="109728" cy="109728"/>
          </a:xfrm>
          <a:prstGeom prst="ellipse">
            <a:avLst/>
          </a:prstGeom>
          <a:solidFill>
            <a:srgbClr val="2A30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Shape 8"/>
          <p:cNvSpPr/>
          <p:nvPr/>
        </p:nvSpPr>
        <p:spPr>
          <a:xfrm>
            <a:off x="5641848" y="5486400"/>
            <a:ext cx="109728" cy="109728"/>
          </a:xfrm>
          <a:prstGeom prst="ellipse">
            <a:avLst/>
          </a:prstGeom>
          <a:solidFill>
            <a:srgbClr val="2A30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Shape 9"/>
          <p:cNvSpPr/>
          <p:nvPr/>
        </p:nvSpPr>
        <p:spPr>
          <a:xfrm>
            <a:off x="5971032" y="5486400"/>
            <a:ext cx="109728" cy="109728"/>
          </a:xfrm>
          <a:prstGeom prst="ellipse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Shape 10"/>
          <p:cNvSpPr/>
          <p:nvPr/>
        </p:nvSpPr>
        <p:spPr>
          <a:xfrm>
            <a:off x="6309360" y="5486400"/>
            <a:ext cx="109728" cy="109728"/>
          </a:xfrm>
          <a:prstGeom prst="ellipse">
            <a:avLst/>
          </a:prstGeom>
          <a:solidFill>
            <a:srgbClr val="2A30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Shape 11"/>
          <p:cNvSpPr/>
          <p:nvPr/>
        </p:nvSpPr>
        <p:spPr>
          <a:xfrm>
            <a:off x="6647688" y="5486400"/>
            <a:ext cx="109728" cy="109728"/>
          </a:xfrm>
          <a:prstGeom prst="ellipse">
            <a:avLst/>
          </a:prstGeom>
          <a:solidFill>
            <a:srgbClr val="2A30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2"/>
          <p:cNvSpPr/>
          <p:nvPr/>
        </p:nvSpPr>
        <p:spPr>
          <a:xfrm>
            <a:off x="1828800" y="5852160"/>
            <a:ext cx="8540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with Azure Functions  •  Azure Static Web Apps  •  Azure Table Storage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0" y="6620256"/>
            <a:ext cx="12198096" cy="13716"/>
          </a:xfrm>
          <a:prstGeom prst="rect">
            <a:avLst/>
          </a:prstGeom>
          <a:solidFill>
            <a:srgbClr val="2A30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Text 14"/>
          <p:cNvSpPr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11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65760" y="6492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2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HackBuzz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5486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457200" y="393192"/>
            <a:ext cx="54864" cy="41148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68580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Challenge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hackathons need better engagement tools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834640" cy="2194560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2700">
            <a:solidFill>
              <a:srgbClr val="2A305A"/>
            </a:solidFill>
            <a:prstDash val="solid"/>
          </a:ln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1691640" y="1783080"/>
            <a:ext cx="548640" cy="548640"/>
          </a:xfrm>
          <a:prstGeom prst="ellipse">
            <a:avLst/>
          </a:prstGeom>
          <a:solidFill>
            <a:srgbClr val="161B3D"/>
          </a:solidFill>
          <a:ln w="1905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169164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😴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Low Engagement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8346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Participants lose focus during long hackathon sessions without interactive breaks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0" y="1554480"/>
            <a:ext cx="2834640" cy="2194560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2700">
            <a:solidFill>
              <a:srgbClr val="2A305A"/>
            </a:solidFill>
            <a:prstDash val="solid"/>
          </a:ln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4800600" y="1783080"/>
            <a:ext cx="548640" cy="548640"/>
          </a:xfrm>
          <a:prstGeom prst="ellipse">
            <a:avLst/>
          </a:prstGeom>
          <a:solidFill>
            <a:srgbClr val="161B3D"/>
          </a:solidFill>
          <a:ln w="1905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480060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9476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Manual Processes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94760" y="28346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surveys and spreadsheet tracking create overhead for organisers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2834640" cy="2194560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2700">
            <a:solidFill>
              <a:srgbClr val="2A305A"/>
            </a:solidFill>
            <a:prstDash val="solid"/>
          </a:ln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1691640" y="4251960"/>
            <a:ext cx="548640" cy="548640"/>
          </a:xfrm>
          <a:prstGeom prst="ellipse">
            <a:avLst/>
          </a:prstGeom>
          <a:solidFill>
            <a:srgbClr val="161B3D"/>
          </a:solidFill>
          <a:ln w="1905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169164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5800" y="4937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 Real-Time Insights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53035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Feedback is collected after the event, missing the chance to adapt in the moment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0" y="4023360"/>
            <a:ext cx="2834640" cy="2194560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2700">
            <a:solidFill>
              <a:srgbClr val="2A305A"/>
            </a:solidFill>
            <a:prstDash val="solid"/>
          </a:ln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" name="Shape 20"/>
          <p:cNvSpPr/>
          <p:nvPr/>
        </p:nvSpPr>
        <p:spPr>
          <a:xfrm>
            <a:off x="4800600" y="4251960"/>
            <a:ext cx="548640" cy="548640"/>
          </a:xfrm>
          <a:prstGeom prst="ellipse">
            <a:avLst/>
          </a:prstGeom>
          <a:solidFill>
            <a:srgbClr val="161B3D"/>
          </a:solidFill>
          <a:ln w="1905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480060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🔧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794760" y="4937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One-Off Solutions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94760" y="53035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tools are built per event and discarded — no reusable platform exists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949440" y="1554480"/>
            <a:ext cx="4754880" cy="4754880"/>
          </a:xfrm>
          <a:prstGeom prst="roundRect">
            <a:avLst>
              <a:gd name="adj" fmla="val 2308"/>
            </a:avLst>
          </a:prstGeom>
          <a:solidFill>
            <a:srgbClr val="1A1F3D"/>
          </a:solidFill>
          <a:ln w="12700">
            <a:solidFill>
              <a:srgbClr val="E8A838"/>
            </a:solidFill>
            <a:prstDash val="solid"/>
          </a:ln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8412480" y="201168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❓</a:t>
            </a:r>
            <a:endParaRPr lang="en-US" sz="5200" dirty="0"/>
          </a:p>
        </p:txBody>
      </p:sp>
      <p:sp>
        <p:nvSpPr>
          <p:cNvPr id="28" name="Text 26"/>
          <p:cNvSpPr/>
          <p:nvPr/>
        </p:nvSpPr>
        <p:spPr>
          <a:xfrm>
            <a:off x="7315200" y="3108960"/>
            <a:ext cx="4023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do you keep</a:t>
            </a:r>
            <a:endParaRPr lang="en-US" sz="18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participants engaged</a:t>
            </a:r>
            <a:endParaRPr lang="en-US" sz="18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collect meaningful</a:t>
            </a:r>
            <a:endParaRPr lang="en-US" sz="18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feedback — in real time?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595360" y="5394960"/>
            <a:ext cx="1097280" cy="36576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/>
          <p:nvPr/>
        </p:nvSpPr>
        <p:spPr>
          <a:xfrm>
            <a:off x="7315200" y="5486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8A8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HackBuzz is the answer.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0" y="6620256"/>
            <a:ext cx="12198096" cy="13716"/>
          </a:xfrm>
          <a:prstGeom prst="rect">
            <a:avLst/>
          </a:prstGeom>
          <a:solidFill>
            <a:srgbClr val="2A30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2" name="Text 30"/>
          <p:cNvSpPr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11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" y="6492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2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HackBuzz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5486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457200" y="393192"/>
            <a:ext cx="54864" cy="41148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68580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is HackBuzz?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reusable, real-time engagement platform for hackathon events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7132320" cy="1828800"/>
          </a:xfrm>
          <a:prstGeom prst="roundRect">
            <a:avLst>
              <a:gd name="adj" fmla="val 6000"/>
            </a:avLst>
          </a:prstGeom>
          <a:solidFill>
            <a:srgbClr val="1A1F3D"/>
          </a:solidFill>
          <a:ln w="12700">
            <a:solidFill>
              <a:srgbClr val="2A305A"/>
            </a:solidFill>
            <a:prstDash val="solid"/>
          </a:ln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6492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E8A8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HackBuzz</a:t>
            </a: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a single deployable app that lets you run </a:t>
            </a:r>
            <a:r>
              <a:rPr lang="en-US" sz="1600" b="1" dirty="0">
                <a:solidFill>
                  <a:srgbClr val="00C9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engaging live quizzes</a:t>
            </a: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with countdown timers &amp; winner announcements, collect </a:t>
            </a:r>
            <a:r>
              <a:rPr lang="en-US" sz="1600" b="1" dirty="0">
                <a:solidFill>
                  <a:srgbClr val="00C9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anonymous participant feedback</a:t>
            </a: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and generate </a:t>
            </a:r>
            <a:r>
              <a:rPr lang="en-US" sz="1600" b="1" dirty="0">
                <a:solidFill>
                  <a:srgbClr val="00C9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professional PDF reports</a:t>
            </a: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all in real time.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1A1F3D"/>
          </a:solidFill>
          <a:ln w="12700">
            <a:solidFill>
              <a:srgbClr val="4F6BFF"/>
            </a:solidFill>
            <a:prstDash val="solid"/>
          </a:ln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822960" y="3566160"/>
            <a:ext cx="2971800" cy="36576"/>
          </a:xfrm>
          <a:prstGeom prst="rect">
            <a:avLst/>
          </a:prstGeom>
          <a:solidFill>
            <a:srgbClr val="4F6B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1847088" y="37947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31520" y="45262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 Quiz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93776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5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AI-generated questions</a:t>
            </a:r>
            <a:endParaRPr lang="en-US" sz="11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5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Countdown timers</a:t>
            </a:r>
            <a:endParaRPr lang="en-US" sz="11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5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Winner podium with confetti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43400" y="356616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1A1F3D"/>
          </a:solidFill>
          <a:ln w="12700">
            <a:solidFill>
              <a:srgbClr val="00C9A7"/>
            </a:solidFill>
            <a:prstDash val="solid"/>
          </a:ln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4617720" y="3566160"/>
            <a:ext cx="2971800" cy="36576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5641848" y="37947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526280" y="45262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Smart Survey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17720" y="493776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5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Anonymous feedback</a:t>
            </a:r>
            <a:endParaRPr lang="en-US" sz="11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5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 ratings &amp; multi-select</a:t>
            </a:r>
            <a:endParaRPr lang="en-US" sz="11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5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One-submission enforcement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38160" y="356616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1A1F3D"/>
          </a:solidFill>
          <a:ln w="12700">
            <a:solidFill>
              <a:srgbClr val="7B61FF"/>
            </a:solidFill>
            <a:prstDash val="solid"/>
          </a:ln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9" name="Shape 17"/>
          <p:cNvSpPr/>
          <p:nvPr/>
        </p:nvSpPr>
        <p:spPr>
          <a:xfrm>
            <a:off x="8412480" y="3566160"/>
            <a:ext cx="2971800" cy="36576"/>
          </a:xfrm>
          <a:prstGeom prst="rect">
            <a:avLst/>
          </a:prstGeom>
          <a:solidFill>
            <a:srgbClr val="7B61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9436608" y="37947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📈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8321040" y="45262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Analytics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12480" y="493776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5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dashboards</a:t>
            </a:r>
            <a:endParaRPr lang="en-US" sz="11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5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 &amp; Excel export</a:t>
            </a:r>
            <a:endParaRPr lang="en-US" sz="11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5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Chart.js visualisations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0" y="6620256"/>
            <a:ext cx="12198096" cy="13716"/>
          </a:xfrm>
          <a:prstGeom prst="rect">
            <a:avLst/>
          </a:prstGeom>
          <a:solidFill>
            <a:srgbClr val="2A30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11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6492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2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HackBuzz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5486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457200" y="393192"/>
            <a:ext cx="54864" cy="41148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68580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seamless flow from quiz to survey to insights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0E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4904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Admin Creates a Question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1737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Manually craft or use AI to auto-generate Azure-level quiz questions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50392" y="2011680"/>
            <a:ext cx="27432" cy="411480"/>
          </a:xfrm>
          <a:prstGeom prst="rect">
            <a:avLst/>
          </a:prstGeom>
          <a:solidFill>
            <a:srgbClr val="2A30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640080" y="2468880"/>
            <a:ext cx="457200" cy="457200"/>
          </a:xfrm>
          <a:prstGeom prst="ellipse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64008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0E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2450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Participants Answer Live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2697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3-2-1 countdown, timed responses with crossfit-style audio beeps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50392" y="2971800"/>
            <a:ext cx="27432" cy="411480"/>
          </a:xfrm>
          <a:prstGeom prst="rect">
            <a:avLst/>
          </a:prstGeom>
          <a:solidFill>
            <a:srgbClr val="2A30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457200" cy="457200"/>
          </a:xfrm>
          <a:prstGeom prst="ellipse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64008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0E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34107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Winner Announced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3657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3 podium with trophy animation, confetti, and time splits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50392" y="3931920"/>
            <a:ext cx="27432" cy="411480"/>
          </a:xfrm>
          <a:prstGeom prst="rect">
            <a:avLst/>
          </a:prstGeom>
          <a:solidFill>
            <a:srgbClr val="2A30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1" name="Shape 19"/>
          <p:cNvSpPr/>
          <p:nvPr/>
        </p:nvSpPr>
        <p:spPr>
          <a:xfrm>
            <a:off x="640080" y="4389120"/>
            <a:ext cx="457200" cy="457200"/>
          </a:xfrm>
          <a:prstGeom prst="ellipse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64008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0E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4440" y="43708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Survey Collected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34440" y="4617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Anonymous feedback with star ratings, chip selectors, and free text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50392" y="4892040"/>
            <a:ext cx="27432" cy="411480"/>
          </a:xfrm>
          <a:prstGeom prst="rect">
            <a:avLst/>
          </a:prstGeom>
          <a:solidFill>
            <a:srgbClr val="2A30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6" name="Shape 24"/>
          <p:cNvSpPr/>
          <p:nvPr/>
        </p:nvSpPr>
        <p:spPr>
          <a:xfrm>
            <a:off x="640080" y="5349240"/>
            <a:ext cx="457200" cy="457200"/>
          </a:xfrm>
          <a:prstGeom prst="ellipse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640080" y="5349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0E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34440" y="53309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Reports Generated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34440" y="5577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PDF summaries &amp; Excel data with Chart.js visualisations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266944" y="1243584"/>
            <a:ext cx="3273552" cy="1719072"/>
          </a:xfrm>
          <a:prstGeom prst="roundRect">
            <a:avLst>
              <a:gd name="adj" fmla="val 6383"/>
            </a:avLst>
          </a:prstGeom>
          <a:solidFill>
            <a:srgbClr val="1A1F3D"/>
          </a:solidFill>
          <a:ln w="12700">
            <a:solidFill>
              <a:srgbClr val="2A305A"/>
            </a:solidFill>
            <a:prstDash val="solid"/>
          </a:ln>
          <a:effectLst>
            <a:outerShdw blurRad="152400" dist="50800" dir="162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31" name="Image 0" descr="C:\code\HackBuzz\docs\_imgs\image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47656" y="1243584"/>
            <a:ext cx="2501537" cy="164592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5120640" y="30175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① Join &amp; Wait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821424" y="3255264"/>
            <a:ext cx="3273552" cy="2542032"/>
          </a:xfrm>
          <a:prstGeom prst="roundRect">
            <a:avLst>
              <a:gd name="adj" fmla="val 4317"/>
            </a:avLst>
          </a:prstGeom>
          <a:solidFill>
            <a:srgbClr val="1A1F3D"/>
          </a:solidFill>
          <a:ln w="12700">
            <a:solidFill>
              <a:srgbClr val="2A305A"/>
            </a:solidFill>
            <a:prstDash val="solid"/>
          </a:ln>
          <a:effectLst>
            <a:outerShdw blurRad="152400" dist="50800" dir="162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34" name="Image 1" descr="C:\code\HackBuzz\docs\_imgs\image4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374636" y="3273552"/>
            <a:ext cx="2057400" cy="246888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6675120" y="585216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② Answer Questions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0" y="6620256"/>
            <a:ext cx="12198096" cy="13716"/>
          </a:xfrm>
          <a:prstGeom prst="rect">
            <a:avLst/>
          </a:prstGeom>
          <a:solidFill>
            <a:srgbClr val="2A30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7" name="Text 33"/>
          <p:cNvSpPr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11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365760" y="6492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2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HackBuzz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5486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457200" y="393192"/>
            <a:ext cx="54864" cy="41148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68580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 Quiz Experience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Participants engage with timed questions and instant feedback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" y="1517904"/>
            <a:ext cx="3547872" cy="1993392"/>
          </a:xfrm>
          <a:prstGeom prst="roundRect">
            <a:avLst>
              <a:gd name="adj" fmla="val 5505"/>
            </a:avLst>
          </a:prstGeom>
          <a:solidFill>
            <a:srgbClr val="1A1F3D"/>
          </a:solidFill>
          <a:ln w="12700">
            <a:solidFill>
              <a:srgbClr val="2A305A"/>
            </a:solidFill>
            <a:prstDash val="solid"/>
          </a:ln>
          <a:effectLst>
            <a:outerShdw blurRad="152400" dist="50800" dir="162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7" name="Image 0" descr="C:\code\HackBuzz\docs\_imgs\image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3232" y="1563624"/>
            <a:ext cx="2899954" cy="1920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01199" y="12344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① Join &amp; Wait for Question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169664" y="1517904"/>
            <a:ext cx="4005072" cy="2542032"/>
          </a:xfrm>
          <a:prstGeom prst="roundRect">
            <a:avLst>
              <a:gd name="adj" fmla="val 4317"/>
            </a:avLst>
          </a:prstGeom>
          <a:solidFill>
            <a:srgbClr val="1A1F3D"/>
          </a:solidFill>
          <a:ln w="12700">
            <a:solidFill>
              <a:srgbClr val="2A305A"/>
            </a:solidFill>
            <a:prstDash val="solid"/>
          </a:ln>
          <a:effectLst>
            <a:outerShdw blurRad="152400" dist="50800" dir="162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10" name="Image 1" descr="C:\code\HackBuzz\docs\_imgs\image5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52850" y="1546643"/>
            <a:ext cx="3050177" cy="2468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87983" y="1254035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② Answer Before Time Runs Out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29184" y="4078224"/>
            <a:ext cx="5102352" cy="2176272"/>
          </a:xfrm>
          <a:prstGeom prst="roundRect">
            <a:avLst>
              <a:gd name="adj" fmla="val 5042"/>
            </a:avLst>
          </a:prstGeom>
          <a:solidFill>
            <a:srgbClr val="1A1F3D"/>
          </a:solidFill>
          <a:ln w="12700">
            <a:solidFill>
              <a:srgbClr val="2A305A"/>
            </a:solidFill>
            <a:prstDash val="solid"/>
          </a:ln>
          <a:effectLst>
            <a:outerShdw blurRad="152400" dist="50800" dir="162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13" name="Image 2" descr="C:\code\HackBuzz\docs\_imgs\image6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65760" y="4114800"/>
            <a:ext cx="5029200" cy="21031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82880" y="630936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③ Correct/Incorrect Feedback &amp; Winner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5760720" y="4271555"/>
            <a:ext cx="6035040" cy="2377440"/>
          </a:xfrm>
          <a:prstGeom prst="roundRect">
            <a:avLst>
              <a:gd name="adj" fmla="val 4615"/>
            </a:avLst>
          </a:prstGeom>
          <a:solidFill>
            <a:srgbClr val="1A1F3D"/>
          </a:solidFill>
          <a:ln w="12700">
            <a:solidFill>
              <a:srgbClr val="4F6BFF"/>
            </a:solidFill>
            <a:prstDash val="solid"/>
          </a:ln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" name="Text 11"/>
          <p:cNvSpPr/>
          <p:nvPr/>
        </p:nvSpPr>
        <p:spPr>
          <a:xfrm>
            <a:off x="6035040" y="4206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989320" y="45720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  AI-generated questions (90+ Azure topics)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5989320" y="50749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⏱️  Configurable countdown (5–120 seconds)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989320" y="55778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🔀  Randomised answer order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9006840" y="45720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🔊  Crossfit-style 3-2-1 audio beeps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9006840" y="50749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🏆  Top 3 podium with confetti &amp; trophies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9006840" y="55778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Instant correct/incorrect overlay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0" y="6620256"/>
            <a:ext cx="12198096" cy="13716"/>
          </a:xfrm>
          <a:prstGeom prst="rect">
            <a:avLst/>
          </a:prstGeom>
          <a:solidFill>
            <a:srgbClr val="2A30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4" name="Text 19"/>
          <p:cNvSpPr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11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365760" y="6492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2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HackBuzz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5486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457200" y="393192"/>
            <a:ext cx="54864" cy="41148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68580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Winner Celebration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Trophy animations, confetti, and instant recognition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12064" y="1335024"/>
            <a:ext cx="5102352" cy="4919472"/>
          </a:xfrm>
          <a:prstGeom prst="roundRect">
            <a:avLst>
              <a:gd name="adj" fmla="val 2230"/>
            </a:avLst>
          </a:prstGeom>
          <a:solidFill>
            <a:srgbClr val="1A1F3D"/>
          </a:solidFill>
          <a:ln w="12700">
            <a:solidFill>
              <a:srgbClr val="2A305A"/>
            </a:solidFill>
            <a:prstDash val="solid"/>
          </a:ln>
          <a:effectLst>
            <a:outerShdw blurRad="152400" dist="50800" dir="162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7" name="Image 0" descr="C:\code\HackBuzz\docs\_imgs\image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371600"/>
            <a:ext cx="5029200" cy="4846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7920" y="1371600"/>
            <a:ext cx="5486400" cy="4846320"/>
          </a:xfrm>
          <a:prstGeom prst="roundRect">
            <a:avLst>
              <a:gd name="adj" fmla="val 2264"/>
            </a:avLst>
          </a:prstGeom>
          <a:solidFill>
            <a:srgbClr val="1A1F3D"/>
          </a:solidFill>
          <a:ln w="12700">
            <a:solidFill>
              <a:srgbClr val="E8A838"/>
            </a:solidFill>
            <a:prstDash val="solid"/>
          </a:ln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/>
          <p:nvPr/>
        </p:nvSpPr>
        <p:spPr>
          <a:xfrm>
            <a:off x="8321040" y="15544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🏆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6675120" y="24688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Moment</a:t>
            </a:r>
            <a:endParaRPr lang="en-US" sz="2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Everyone Loves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8046720" y="3383280"/>
            <a:ext cx="1463040" cy="27432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9"/>
          <p:cNvSpPr/>
          <p:nvPr/>
        </p:nvSpPr>
        <p:spPr>
          <a:xfrm>
            <a:off x="6675120" y="36576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🥇  Fastest correct answer wins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675120" y="41148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🎊  Confetti animation on screen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675120" y="45720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⏱️  Response time tracked to the millisecond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675120" y="50292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Real-time submission counter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675120" y="54864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🎵  Audio countdown with dramatic reveal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0" y="6620256"/>
            <a:ext cx="12198096" cy="13716"/>
          </a:xfrm>
          <a:prstGeom prst="rect">
            <a:avLst/>
          </a:prstGeom>
          <a:solidFill>
            <a:srgbClr val="2A30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5"/>
          <p:cNvSpPr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11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65760" y="6492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2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HackBuzz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5486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457200" y="393192"/>
            <a:ext cx="54864" cy="41148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68580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Admin Dashboard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control over quizzes, surveys, and settings from one panel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" y="1335024"/>
            <a:ext cx="6291072" cy="5102352"/>
          </a:xfrm>
          <a:prstGeom prst="roundRect">
            <a:avLst>
              <a:gd name="adj" fmla="val 2151"/>
            </a:avLst>
          </a:prstGeom>
          <a:solidFill>
            <a:srgbClr val="1A1F3D"/>
          </a:solidFill>
          <a:ln w="12700">
            <a:solidFill>
              <a:srgbClr val="2A305A"/>
            </a:solidFill>
            <a:prstDash val="solid"/>
          </a:ln>
          <a:effectLst>
            <a:outerShdw blurRad="152400" dist="50800" dir="162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7" name="Image 0" descr="C:\code\HackBuzz\docs\_imgs\image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5707" y="1417320"/>
            <a:ext cx="4956048" cy="5029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949440" y="1371600"/>
            <a:ext cx="4846320" cy="5029200"/>
          </a:xfrm>
          <a:prstGeom prst="roundRect">
            <a:avLst>
              <a:gd name="adj" fmla="val 2264"/>
            </a:avLst>
          </a:prstGeom>
          <a:solidFill>
            <a:srgbClr val="1A1F3D"/>
          </a:solidFill>
          <a:ln w="12700">
            <a:solidFill>
              <a:srgbClr val="7B61FF"/>
            </a:solidFill>
            <a:prstDash val="solid"/>
          </a:ln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/>
          <p:nvPr/>
        </p:nvSpPr>
        <p:spPr>
          <a:xfrm>
            <a:off x="7223760" y="16459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 Quiz Management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98080" y="20116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Create/edit multiple-choice questions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498080" y="22860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AI Generate with one click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498080" y="2560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Open, close &amp; manage live questions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498080" y="28346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Real-time response tracking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223760" y="33375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📊  Survey Control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498080" y="3703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Open/close survey toggle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498080" y="39776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View all responses &amp; charts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498080" y="42519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Export PDF reports &amp; Excel data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223760" y="47548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⚙️  Settings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498080" y="51206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Custom branding &amp; logo upload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498080" y="53949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Organisation &amp; hackathon name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498080" y="56692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Configurable timer duration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0" y="6620256"/>
            <a:ext cx="12198096" cy="13716"/>
          </a:xfrm>
          <a:prstGeom prst="rect">
            <a:avLst/>
          </a:prstGeom>
          <a:solidFill>
            <a:srgbClr val="2A30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Text 20"/>
          <p:cNvSpPr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11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65760" y="6492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2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HackBuzz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5486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457200" y="393192"/>
            <a:ext cx="54864" cy="41148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68580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Survey &amp; Analytics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 anonymous feedback and generate instant reports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" y="1335024"/>
            <a:ext cx="5559552" cy="3913632"/>
          </a:xfrm>
          <a:prstGeom prst="roundRect">
            <a:avLst>
              <a:gd name="adj" fmla="val 2804"/>
            </a:avLst>
          </a:prstGeom>
          <a:solidFill>
            <a:srgbClr val="1A1F3D"/>
          </a:solidFill>
          <a:ln w="12700">
            <a:solidFill>
              <a:srgbClr val="2A305A"/>
            </a:solidFill>
            <a:prstDash val="solid"/>
          </a:ln>
          <a:effectLst>
            <a:outerShdw blurRad="152400" dist="50800" dir="162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7" name="Image 0" descr="C:\code\HackBuzz\docs\_imgs\image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371600"/>
            <a:ext cx="5486400" cy="3840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" y="5303520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Survey Dashboard with Charts &amp; Export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81344" y="1335024"/>
            <a:ext cx="5559552" cy="3913632"/>
          </a:xfrm>
          <a:prstGeom prst="roundRect">
            <a:avLst>
              <a:gd name="adj" fmla="val 2804"/>
            </a:avLst>
          </a:prstGeom>
          <a:solidFill>
            <a:srgbClr val="1A1F3D"/>
          </a:solidFill>
          <a:ln w="12700">
            <a:solidFill>
              <a:srgbClr val="2A305A"/>
            </a:solidFill>
            <a:prstDash val="solid"/>
          </a:ln>
          <a:effectLst>
            <a:outerShdw blurRad="152400" dist="50800" dir="162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10" name="Image 1" descr="C:\code\HackBuzz\docs\_imgs\image1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44768" y="1325880"/>
            <a:ext cx="5293070" cy="3840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035040" y="5303520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Detailed Results &amp; Written Feedback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65760" y="5669280"/>
            <a:ext cx="11466576" cy="777240"/>
          </a:xfrm>
          <a:prstGeom prst="roundRect">
            <a:avLst>
              <a:gd name="adj" fmla="val 14118"/>
            </a:avLst>
          </a:prstGeom>
          <a:solidFill>
            <a:srgbClr val="1A1F3D"/>
          </a:solidFill>
          <a:ln w="12700">
            <a:solidFill>
              <a:srgbClr val="00C9A7"/>
            </a:solidFill>
            <a:prstDash val="solid"/>
          </a:ln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3" name="Text 9"/>
          <p:cNvSpPr/>
          <p:nvPr/>
        </p:nvSpPr>
        <p:spPr>
          <a:xfrm>
            <a:off x="548640" y="57150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⭐  Star Ratings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2450592" y="57150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 Chip Selectors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352544" y="57150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📝  Free-Text Fields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254496" y="57150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📄  PDF Export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8156448" y="57150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📥  Excel Export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10058400" y="57150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🎖️  Completion Badge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0" y="6620256"/>
            <a:ext cx="12198096" cy="13716"/>
          </a:xfrm>
          <a:prstGeom prst="rect">
            <a:avLst/>
          </a:prstGeom>
          <a:solidFill>
            <a:srgbClr val="2A30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Text 16"/>
          <p:cNvSpPr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11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365760" y="6492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2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HackBuzz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5486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457200" y="393192"/>
            <a:ext cx="54864" cy="41148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68580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Simple, serverless, and fully deployable on Azure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1A1F3D"/>
          </a:solidFill>
          <a:ln w="12700">
            <a:solidFill>
              <a:srgbClr val="4F6BFF"/>
            </a:solidFill>
            <a:prstDash val="solid"/>
          </a:ln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3017520" cy="36576"/>
          </a:xfrm>
          <a:prstGeom prst="rect">
            <a:avLst/>
          </a:prstGeom>
          <a:solidFill>
            <a:srgbClr val="4F6B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1874520" y="16459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🖥️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Frontend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F6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Static Web Apps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3200400"/>
            <a:ext cx="2651760" cy="13716"/>
          </a:xfrm>
          <a:prstGeom prst="rect">
            <a:avLst/>
          </a:prstGeom>
          <a:solidFill>
            <a:srgbClr val="2A30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822960" y="3383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Vanilla HTML/CSS/JS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840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index.html — Participant Quiz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2976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admin.html — Admin Dashboard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47548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survey.html — Anonymous Survey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137160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1A1F3D"/>
          </a:solidFill>
          <a:ln w="12700">
            <a:solidFill>
              <a:srgbClr val="E8A838"/>
            </a:solidFill>
            <a:prstDash val="solid"/>
          </a:ln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4572000" y="1371600"/>
            <a:ext cx="3017520" cy="36576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5715000" y="16459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480560" y="2377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API Layer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480560" y="2788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A8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Functions (Node.js)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3200400"/>
            <a:ext cx="2651760" cy="13716"/>
          </a:xfrm>
          <a:prstGeom prst="rect">
            <a:avLst/>
          </a:prstGeom>
          <a:solidFill>
            <a:srgbClr val="2A30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4663440" y="3383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14 RESTful endpoints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3840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Admin auth via HTTP header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42976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Real-time quiz state management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47548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AI question generation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138160" y="137160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1A1F3D"/>
          </a:solidFill>
          <a:ln w="12700">
            <a:solidFill>
              <a:srgbClr val="00C9A7"/>
            </a:solidFill>
            <a:prstDash val="solid"/>
          </a:ln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7" name="Shape 25"/>
          <p:cNvSpPr/>
          <p:nvPr/>
        </p:nvSpPr>
        <p:spPr>
          <a:xfrm>
            <a:off x="8412480" y="1371600"/>
            <a:ext cx="3017520" cy="36576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8" name="Text 26"/>
          <p:cNvSpPr/>
          <p:nvPr/>
        </p:nvSpPr>
        <p:spPr>
          <a:xfrm>
            <a:off x="9555480" y="16459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💾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8321040" y="2377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Store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321040" y="2788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9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Table Storage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595360" y="3200400"/>
            <a:ext cx="2651760" cy="13716"/>
          </a:xfrm>
          <a:prstGeom prst="rect">
            <a:avLst/>
          </a:prstGeom>
          <a:solidFill>
            <a:srgbClr val="2A30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2" name="Text 30"/>
          <p:cNvSpPr/>
          <p:nvPr/>
        </p:nvSpPr>
        <p:spPr>
          <a:xfrm>
            <a:off x="8503920" y="3383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QuizState &amp; Submissions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503920" y="3840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SurveyResponses &amp; SurveyState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503920" y="42976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AppSettings &amp; Branding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503920" y="47548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Zero database management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114800" y="3200400"/>
            <a:ext cx="274320" cy="36576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7" name="Text 35"/>
          <p:cNvSpPr/>
          <p:nvPr/>
        </p:nvSpPr>
        <p:spPr>
          <a:xfrm>
            <a:off x="4297680" y="30632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A838"/>
                </a:solidFill>
              </a:rPr>
              <a:t>▶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955280" y="3200400"/>
            <a:ext cx="274320" cy="36576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9" name="Text 37"/>
          <p:cNvSpPr/>
          <p:nvPr/>
        </p:nvSpPr>
        <p:spPr>
          <a:xfrm>
            <a:off x="8138160" y="30632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A838"/>
                </a:solidFill>
              </a:rPr>
              <a:t>▶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5760720"/>
            <a:ext cx="11283696" cy="640080"/>
          </a:xfrm>
          <a:prstGeom prst="roundRect">
            <a:avLst>
              <a:gd name="adj" fmla="val 17143"/>
            </a:avLst>
          </a:prstGeom>
          <a:solidFill>
            <a:srgbClr val="1A1F3D"/>
          </a:solidFill>
          <a:ln w="12700">
            <a:solidFill>
              <a:srgbClr val="2A305A"/>
            </a:solidFill>
            <a:prstDash val="solid"/>
          </a:ln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1" name="Text 39"/>
          <p:cNvSpPr/>
          <p:nvPr/>
        </p:nvSpPr>
        <p:spPr>
          <a:xfrm>
            <a:off x="548640" y="58064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20+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423160" y="5943600"/>
            <a:ext cx="13716" cy="274320"/>
          </a:xfrm>
          <a:prstGeom prst="rect">
            <a:avLst/>
          </a:prstGeom>
          <a:solidFill>
            <a:srgbClr val="2A30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3" name="Text 41"/>
          <p:cNvSpPr/>
          <p:nvPr/>
        </p:nvSpPr>
        <p:spPr>
          <a:xfrm>
            <a:off x="2423160" y="58064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Functions v4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297680" y="5943600"/>
            <a:ext cx="13716" cy="274320"/>
          </a:xfrm>
          <a:prstGeom prst="rect">
            <a:avLst/>
          </a:prstGeom>
          <a:solidFill>
            <a:srgbClr val="2A30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5" name="Text 43"/>
          <p:cNvSpPr/>
          <p:nvPr/>
        </p:nvSpPr>
        <p:spPr>
          <a:xfrm>
            <a:off x="4297680" y="58064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Table Storage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72200" y="5943600"/>
            <a:ext cx="13716" cy="274320"/>
          </a:xfrm>
          <a:prstGeom prst="rect">
            <a:avLst/>
          </a:prstGeom>
          <a:solidFill>
            <a:srgbClr val="2A30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7" name="Text 45"/>
          <p:cNvSpPr/>
          <p:nvPr/>
        </p:nvSpPr>
        <p:spPr>
          <a:xfrm>
            <a:off x="6172200" y="58064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Chart.js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046720" y="5943600"/>
            <a:ext cx="13716" cy="274320"/>
          </a:xfrm>
          <a:prstGeom prst="rect">
            <a:avLst/>
          </a:prstGeom>
          <a:solidFill>
            <a:srgbClr val="2A30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9" name="Text 47"/>
          <p:cNvSpPr/>
          <p:nvPr/>
        </p:nvSpPr>
        <p:spPr>
          <a:xfrm>
            <a:off x="8046720" y="58064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HTML/CSS/JS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9921240" y="5943600"/>
            <a:ext cx="13716" cy="274320"/>
          </a:xfrm>
          <a:prstGeom prst="rect">
            <a:avLst/>
          </a:prstGeom>
          <a:solidFill>
            <a:srgbClr val="2A30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1" name="Text 49"/>
          <p:cNvSpPr/>
          <p:nvPr/>
        </p:nvSpPr>
        <p:spPr>
          <a:xfrm>
            <a:off x="9921240" y="58064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Static Web Apps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0" y="6620256"/>
            <a:ext cx="12198096" cy="13716"/>
          </a:xfrm>
          <a:prstGeom prst="rect">
            <a:avLst/>
          </a:prstGeom>
          <a:solidFill>
            <a:srgbClr val="2A30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3" name="Text 51"/>
          <p:cNvSpPr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11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65760" y="6492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2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HackBuzz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5486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457200" y="393192"/>
            <a:ext cx="54864" cy="41148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68580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Version 2.0 Roadmap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Planned features from our GitHub backlog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241280" y="320040"/>
            <a:ext cx="1554480" cy="502920"/>
          </a:xfrm>
          <a:prstGeom prst="roundRect">
            <a:avLst>
              <a:gd name="adj" fmla="val 27273"/>
            </a:avLst>
          </a:prstGeom>
          <a:solidFill>
            <a:srgbClr val="E8A83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10241280" y="320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0E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v2.0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" y="1280160"/>
            <a:ext cx="2743200" cy="4937760"/>
          </a:xfrm>
          <a:prstGeom prst="roundRect">
            <a:avLst>
              <a:gd name="adj" fmla="val 4000"/>
            </a:avLst>
          </a:prstGeom>
          <a:solidFill>
            <a:srgbClr val="1A1F3D"/>
          </a:solidFill>
          <a:ln w="12700">
            <a:solidFill>
              <a:srgbClr val="4F6BFF"/>
            </a:solidFill>
            <a:prstDash val="solid"/>
          </a:ln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548640" y="1280160"/>
            <a:ext cx="2286000" cy="36576"/>
          </a:xfrm>
          <a:prstGeom prst="rect">
            <a:avLst/>
          </a:prstGeom>
          <a:solidFill>
            <a:srgbClr val="4F6B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1417320" y="1508760"/>
            <a:ext cx="548640" cy="548640"/>
          </a:xfrm>
          <a:prstGeom prst="ellipse">
            <a:avLst/>
          </a:prstGeom>
          <a:solidFill>
            <a:srgbClr val="161B3D"/>
          </a:solidFill>
          <a:ln w="19050">
            <a:solidFill>
              <a:srgbClr val="4F6B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141732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🖥️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11480" y="2194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Platform &amp; UX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2606040"/>
            <a:ext cx="2011680" cy="13716"/>
          </a:xfrm>
          <a:prstGeom prst="rect">
            <a:avLst/>
          </a:prstGeom>
          <a:solidFill>
            <a:srgbClr val="2A30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484632" y="2761488"/>
            <a:ext cx="438912" cy="256032"/>
          </a:xfrm>
          <a:prstGeom prst="roundRect">
            <a:avLst>
              <a:gd name="adj" fmla="val 28571"/>
            </a:avLst>
          </a:prstGeom>
          <a:solidFill>
            <a:srgbClr val="4F6B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484632" y="2761488"/>
            <a:ext cx="438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0E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78408" y="272491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Modernise UI to Astro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78408" y="303580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Component-based architecture with partial hydration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4632" y="3858768"/>
            <a:ext cx="438912" cy="256032"/>
          </a:xfrm>
          <a:prstGeom prst="roundRect">
            <a:avLst>
              <a:gd name="adj" fmla="val 28571"/>
            </a:avLst>
          </a:prstGeom>
          <a:solidFill>
            <a:srgbClr val="4F6B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484632" y="3858768"/>
            <a:ext cx="438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0E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#7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78408" y="382219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Theme Builder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78408" y="413308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colours, fonts &amp; preset themes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" y="4956048"/>
            <a:ext cx="438912" cy="256032"/>
          </a:xfrm>
          <a:prstGeom prst="roundRect">
            <a:avLst>
              <a:gd name="adj" fmla="val 28571"/>
            </a:avLst>
          </a:prstGeom>
          <a:solidFill>
            <a:srgbClr val="4F6B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484632" y="4956048"/>
            <a:ext cx="438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0E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78408" y="491947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Landing Page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78408" y="523036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Markdown-driven welcome page for participants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27832" y="1280160"/>
            <a:ext cx="2743200" cy="4937760"/>
          </a:xfrm>
          <a:prstGeom prst="roundRect">
            <a:avLst>
              <a:gd name="adj" fmla="val 4000"/>
            </a:avLst>
          </a:prstGeom>
          <a:solidFill>
            <a:srgbClr val="1A1F3D"/>
          </a:solidFill>
          <a:ln w="12700">
            <a:solidFill>
              <a:srgbClr val="E8A838"/>
            </a:solidFill>
            <a:prstDash val="solid"/>
          </a:ln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7" name="Shape 25"/>
          <p:cNvSpPr/>
          <p:nvPr/>
        </p:nvSpPr>
        <p:spPr>
          <a:xfrm>
            <a:off x="3456432" y="1280160"/>
            <a:ext cx="2286000" cy="36576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8" name="Shape 26"/>
          <p:cNvSpPr/>
          <p:nvPr/>
        </p:nvSpPr>
        <p:spPr>
          <a:xfrm>
            <a:off x="4325112" y="1508760"/>
            <a:ext cx="548640" cy="548640"/>
          </a:xfrm>
          <a:prstGeom prst="ellipse">
            <a:avLst/>
          </a:prstGeom>
          <a:solidFill>
            <a:srgbClr val="161B3D"/>
          </a:solidFill>
          <a:ln w="1905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Text 27"/>
          <p:cNvSpPr/>
          <p:nvPr/>
        </p:nvSpPr>
        <p:spPr>
          <a:xfrm>
            <a:off x="4325112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319272" y="2194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Quiz Enhancements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593592" y="2606040"/>
            <a:ext cx="2011680" cy="13716"/>
          </a:xfrm>
          <a:prstGeom prst="rect">
            <a:avLst/>
          </a:prstGeom>
          <a:solidFill>
            <a:srgbClr val="2A30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3392424" y="2761488"/>
            <a:ext cx="438912" cy="256032"/>
          </a:xfrm>
          <a:prstGeom prst="roundRect">
            <a:avLst>
              <a:gd name="adj" fmla="val 28571"/>
            </a:avLst>
          </a:prstGeom>
          <a:solidFill>
            <a:srgbClr val="E8A83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3" name="Text 31"/>
          <p:cNvSpPr/>
          <p:nvPr/>
        </p:nvSpPr>
        <p:spPr>
          <a:xfrm>
            <a:off x="3392424" y="2761488"/>
            <a:ext cx="438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0E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886200" y="272491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Quiz Rounds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886200" y="303580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Themed sections with per-round leaderboards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392424" y="3858768"/>
            <a:ext cx="438912" cy="256032"/>
          </a:xfrm>
          <a:prstGeom prst="roundRect">
            <a:avLst>
              <a:gd name="adj" fmla="val 28571"/>
            </a:avLst>
          </a:prstGeom>
          <a:solidFill>
            <a:srgbClr val="E8A83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7" name="Text 35"/>
          <p:cNvSpPr/>
          <p:nvPr/>
        </p:nvSpPr>
        <p:spPr>
          <a:xfrm>
            <a:off x="3392424" y="3858768"/>
            <a:ext cx="438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0E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886200" y="382219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Challenge Timer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3886200" y="413308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Time-boxed challenges with live countdown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35624" y="1280160"/>
            <a:ext cx="2743200" cy="4937760"/>
          </a:xfrm>
          <a:prstGeom prst="roundRect">
            <a:avLst>
              <a:gd name="adj" fmla="val 4000"/>
            </a:avLst>
          </a:prstGeom>
          <a:solidFill>
            <a:srgbClr val="1A1F3D"/>
          </a:solidFill>
          <a:ln w="12700">
            <a:solidFill>
              <a:srgbClr val="00C9A7"/>
            </a:solidFill>
            <a:prstDash val="solid"/>
          </a:ln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1" name="Shape 39"/>
          <p:cNvSpPr/>
          <p:nvPr/>
        </p:nvSpPr>
        <p:spPr>
          <a:xfrm>
            <a:off x="6364224" y="1280160"/>
            <a:ext cx="2286000" cy="36576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2" name="Shape 40"/>
          <p:cNvSpPr/>
          <p:nvPr/>
        </p:nvSpPr>
        <p:spPr>
          <a:xfrm>
            <a:off x="7232904" y="1508760"/>
            <a:ext cx="548640" cy="548640"/>
          </a:xfrm>
          <a:prstGeom prst="ellipse">
            <a:avLst/>
          </a:prstGeom>
          <a:solidFill>
            <a:srgbClr val="161B3D"/>
          </a:solidFill>
          <a:ln w="190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3" name="Text 41"/>
          <p:cNvSpPr/>
          <p:nvPr/>
        </p:nvSpPr>
        <p:spPr>
          <a:xfrm>
            <a:off x="7232904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227064" y="2194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Survey Power-ups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501384" y="2606040"/>
            <a:ext cx="2011680" cy="13716"/>
          </a:xfrm>
          <a:prstGeom prst="rect">
            <a:avLst/>
          </a:prstGeom>
          <a:solidFill>
            <a:srgbClr val="2A30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6" name="Shape 44"/>
          <p:cNvSpPr/>
          <p:nvPr/>
        </p:nvSpPr>
        <p:spPr>
          <a:xfrm>
            <a:off x="6300216" y="2761488"/>
            <a:ext cx="438912" cy="256032"/>
          </a:xfrm>
          <a:prstGeom prst="roundRect">
            <a:avLst>
              <a:gd name="adj" fmla="val 28571"/>
            </a:avLst>
          </a:prstGeom>
          <a:solidFill>
            <a:srgbClr val="00C9A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7" name="Text 45"/>
          <p:cNvSpPr/>
          <p:nvPr/>
        </p:nvSpPr>
        <p:spPr>
          <a:xfrm>
            <a:off x="6300216" y="2761488"/>
            <a:ext cx="438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0E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#8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793992" y="272491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Custom Survey Builder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6793992" y="303580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Drag &amp; drop editor with NPS, Likert &amp; more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300216" y="3858768"/>
            <a:ext cx="438912" cy="256032"/>
          </a:xfrm>
          <a:prstGeom prst="roundRect">
            <a:avLst>
              <a:gd name="adj" fmla="val 28571"/>
            </a:avLst>
          </a:prstGeom>
          <a:solidFill>
            <a:srgbClr val="00C9A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1" name="Text 49"/>
          <p:cNvSpPr/>
          <p:nvPr/>
        </p:nvSpPr>
        <p:spPr>
          <a:xfrm>
            <a:off x="6300216" y="3858768"/>
            <a:ext cx="438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0E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#6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793992" y="382219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Email Survey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6793992" y="413308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Bulk email surveys via Azure Comms Services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043416" y="1280160"/>
            <a:ext cx="2743200" cy="4937760"/>
          </a:xfrm>
          <a:prstGeom prst="roundRect">
            <a:avLst>
              <a:gd name="adj" fmla="val 4000"/>
            </a:avLst>
          </a:prstGeom>
          <a:solidFill>
            <a:srgbClr val="1A1F3D"/>
          </a:solidFill>
          <a:ln w="12700">
            <a:solidFill>
              <a:srgbClr val="7B61FF"/>
            </a:solidFill>
            <a:prstDash val="solid"/>
          </a:ln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5" name="Shape 53"/>
          <p:cNvSpPr/>
          <p:nvPr/>
        </p:nvSpPr>
        <p:spPr>
          <a:xfrm>
            <a:off x="9272016" y="1280160"/>
            <a:ext cx="2286000" cy="36576"/>
          </a:xfrm>
          <a:prstGeom prst="rect">
            <a:avLst/>
          </a:prstGeom>
          <a:solidFill>
            <a:srgbClr val="7B61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6" name="Shape 54"/>
          <p:cNvSpPr/>
          <p:nvPr/>
        </p:nvSpPr>
        <p:spPr>
          <a:xfrm>
            <a:off x="10140696" y="1508760"/>
            <a:ext cx="548640" cy="548640"/>
          </a:xfrm>
          <a:prstGeom prst="ellipse">
            <a:avLst/>
          </a:prstGeom>
          <a:solidFill>
            <a:srgbClr val="161B3D"/>
          </a:solidFill>
          <a:ln w="1905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7" name="Text 55"/>
          <p:cNvSpPr/>
          <p:nvPr/>
        </p:nvSpPr>
        <p:spPr>
          <a:xfrm>
            <a:off x="10140696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🚀</a:t>
            </a:r>
            <a:endParaRPr lang="en-US" sz="2200" dirty="0"/>
          </a:p>
        </p:txBody>
      </p:sp>
      <p:sp>
        <p:nvSpPr>
          <p:cNvPr id="58" name="Text 56"/>
          <p:cNvSpPr/>
          <p:nvPr/>
        </p:nvSpPr>
        <p:spPr>
          <a:xfrm>
            <a:off x="9134856" y="2194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Engagement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9409176" y="2606040"/>
            <a:ext cx="2011680" cy="13716"/>
          </a:xfrm>
          <a:prstGeom prst="rect">
            <a:avLst/>
          </a:prstGeom>
          <a:solidFill>
            <a:srgbClr val="2A30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0" name="Shape 58"/>
          <p:cNvSpPr/>
          <p:nvPr/>
        </p:nvSpPr>
        <p:spPr>
          <a:xfrm>
            <a:off x="9208008" y="2761488"/>
            <a:ext cx="438912" cy="256032"/>
          </a:xfrm>
          <a:prstGeom prst="roundRect">
            <a:avLst>
              <a:gd name="adj" fmla="val 28571"/>
            </a:avLst>
          </a:prstGeom>
          <a:solidFill>
            <a:srgbClr val="7B61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1" name="Text 59"/>
          <p:cNvSpPr/>
          <p:nvPr/>
        </p:nvSpPr>
        <p:spPr>
          <a:xfrm>
            <a:off x="9208008" y="2761488"/>
            <a:ext cx="438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0E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#10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9701784" y="272491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Real-time Notifications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9701784" y="303580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WebSocket push via Azure Web PubSub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9208008" y="3858768"/>
            <a:ext cx="438912" cy="256032"/>
          </a:xfrm>
          <a:prstGeom prst="roundRect">
            <a:avLst>
              <a:gd name="adj" fmla="val 28571"/>
            </a:avLst>
          </a:prstGeom>
          <a:solidFill>
            <a:srgbClr val="7B61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5" name="Text 63"/>
          <p:cNvSpPr/>
          <p:nvPr/>
        </p:nvSpPr>
        <p:spPr>
          <a:xfrm>
            <a:off x="9208008" y="3858768"/>
            <a:ext cx="438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0E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#9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9701784" y="382219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QR Code Join</a:t>
            </a:r>
            <a:endParaRPr lang="en-US" sz="1150" dirty="0"/>
          </a:p>
        </p:txBody>
      </p:sp>
      <p:sp>
        <p:nvSpPr>
          <p:cNvPr id="67" name="Text 65"/>
          <p:cNvSpPr/>
          <p:nvPr/>
        </p:nvSpPr>
        <p:spPr>
          <a:xfrm>
            <a:off x="9701784" y="413308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 to instantly join — project on big screen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9208008" y="4956048"/>
            <a:ext cx="438912" cy="256032"/>
          </a:xfrm>
          <a:prstGeom prst="roundRect">
            <a:avLst>
              <a:gd name="adj" fmla="val 28571"/>
            </a:avLst>
          </a:prstGeom>
          <a:solidFill>
            <a:srgbClr val="7B61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9" name="Text 67"/>
          <p:cNvSpPr/>
          <p:nvPr/>
        </p:nvSpPr>
        <p:spPr>
          <a:xfrm>
            <a:off x="9208008" y="4956048"/>
            <a:ext cx="438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0E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#5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9701784" y="491947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Participant Registration</a:t>
            </a:r>
            <a:endParaRPr lang="en-US" sz="1150" dirty="0"/>
          </a:p>
        </p:txBody>
      </p:sp>
      <p:sp>
        <p:nvSpPr>
          <p:cNvPr id="71" name="Text 69"/>
          <p:cNvSpPr/>
          <p:nvPr/>
        </p:nvSpPr>
        <p:spPr>
          <a:xfrm>
            <a:off x="9701784" y="523036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BE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Registration flow with attendance tracking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4114800" y="6355080"/>
            <a:ext cx="3968496" cy="365760"/>
          </a:xfrm>
          <a:prstGeom prst="roundRect">
            <a:avLst>
              <a:gd name="adj" fmla="val 30000"/>
            </a:avLst>
          </a:prstGeom>
          <a:solidFill>
            <a:srgbClr val="1A1F3D"/>
          </a:solidFill>
          <a:ln w="12700">
            <a:solidFill>
              <a:srgbClr val="2A305A"/>
            </a:solidFill>
            <a:prstDash val="solid"/>
          </a:ln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3" name="Text 71"/>
          <p:cNvSpPr/>
          <p:nvPr/>
        </p:nvSpPr>
        <p:spPr>
          <a:xfrm>
            <a:off x="4114800" y="6355080"/>
            <a:ext cx="3968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8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features </a:t>
            </a:r>
            <a:r>
              <a:rPr lang="en-US" sz="1100" dirty="0">
                <a:solidFill>
                  <a:srgbClr val="8892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planned  •  All tracked on </a:t>
            </a:r>
            <a:r>
              <a:rPr lang="en-US" sz="1100" b="1" dirty="0">
                <a:solidFill>
                  <a:srgbClr val="4F6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Issues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0" y="6620256"/>
            <a:ext cx="12198096" cy="13716"/>
          </a:xfrm>
          <a:prstGeom prst="rect">
            <a:avLst/>
          </a:prstGeom>
          <a:solidFill>
            <a:srgbClr val="2A30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5" name="Text 73"/>
          <p:cNvSpPr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11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365760" y="6492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2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HackBuzz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1163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11163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10058400" y="4572000"/>
            <a:ext cx="3657600" cy="3657600"/>
          </a:xfrm>
          <a:prstGeom prst="ellipse">
            <a:avLst/>
          </a:prstGeom>
          <a:solidFill>
            <a:srgbClr val="161B3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8096" cy="5486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6" name="Image 0" descr="C:\code\HackBuzz\docs\_imgs\image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13048" y="914400"/>
            <a:ext cx="4572000" cy="1554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743200"/>
            <a:ext cx="85404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Thank You!</a:t>
            </a:r>
            <a:endParaRPr lang="en-US" sz="3800" dirty="0"/>
          </a:p>
        </p:txBody>
      </p:sp>
      <p:sp>
        <p:nvSpPr>
          <p:cNvPr id="8" name="Shape 5"/>
          <p:cNvSpPr/>
          <p:nvPr/>
        </p:nvSpPr>
        <p:spPr>
          <a:xfrm>
            <a:off x="5184648" y="3566160"/>
            <a:ext cx="1828800" cy="27432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/>
          <p:nvPr/>
        </p:nvSpPr>
        <p:spPr>
          <a:xfrm>
            <a:off x="1828800" y="3749040"/>
            <a:ext cx="85404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D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286000" y="4572000"/>
            <a:ext cx="7626096" cy="1371600"/>
          </a:xfrm>
          <a:prstGeom prst="roundRect">
            <a:avLst>
              <a:gd name="adj" fmla="val 8000"/>
            </a:avLst>
          </a:prstGeom>
          <a:solidFill>
            <a:srgbClr val="1A1F3D"/>
          </a:solidFill>
          <a:ln w="12700">
            <a:solidFill>
              <a:srgbClr val="2A305A"/>
            </a:solidFill>
            <a:prstDash val="solid"/>
          </a:ln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/>
          <p:nvPr/>
        </p:nvSpPr>
        <p:spPr>
          <a:xfrm>
            <a:off x="2286000" y="4663440"/>
            <a:ext cx="7626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6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Engage  </a:t>
            </a:r>
            <a:r>
              <a:rPr lang="en-US" sz="1400" dirty="0">
                <a:solidFill>
                  <a:srgbClr val="8892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r>
              <a:rPr lang="en-US" sz="1400" b="1" dirty="0">
                <a:solidFill>
                  <a:srgbClr val="E8A8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Compete  </a:t>
            </a:r>
            <a:r>
              <a:rPr lang="en-US" sz="1400" dirty="0">
                <a:solidFill>
                  <a:srgbClr val="8892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r>
              <a:rPr lang="en-US" sz="1400" b="1" dirty="0">
                <a:solidFill>
                  <a:srgbClr val="00C9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286000" y="5212080"/>
            <a:ext cx="7626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© 2026 Microsoft Customer Success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303520" y="6217920"/>
            <a:ext cx="109728" cy="109728"/>
          </a:xfrm>
          <a:prstGeom prst="ellipse">
            <a:avLst/>
          </a:prstGeom>
          <a:solidFill>
            <a:srgbClr val="2A30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Shape 11"/>
          <p:cNvSpPr/>
          <p:nvPr/>
        </p:nvSpPr>
        <p:spPr>
          <a:xfrm>
            <a:off x="5641848" y="6217920"/>
            <a:ext cx="109728" cy="109728"/>
          </a:xfrm>
          <a:prstGeom prst="ellipse">
            <a:avLst/>
          </a:prstGeom>
          <a:solidFill>
            <a:srgbClr val="2A30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Shape 12"/>
          <p:cNvSpPr/>
          <p:nvPr/>
        </p:nvSpPr>
        <p:spPr>
          <a:xfrm>
            <a:off x="5971032" y="6217920"/>
            <a:ext cx="109728" cy="109728"/>
          </a:xfrm>
          <a:prstGeom prst="ellipse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Shape 13"/>
          <p:cNvSpPr/>
          <p:nvPr/>
        </p:nvSpPr>
        <p:spPr>
          <a:xfrm>
            <a:off x="6309360" y="6217920"/>
            <a:ext cx="109728" cy="109728"/>
          </a:xfrm>
          <a:prstGeom prst="ellipse">
            <a:avLst/>
          </a:prstGeom>
          <a:solidFill>
            <a:srgbClr val="2A30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Shape 14"/>
          <p:cNvSpPr/>
          <p:nvPr/>
        </p:nvSpPr>
        <p:spPr>
          <a:xfrm>
            <a:off x="6647688" y="6217920"/>
            <a:ext cx="109728" cy="109728"/>
          </a:xfrm>
          <a:prstGeom prst="ellipse">
            <a:avLst/>
          </a:prstGeom>
          <a:solidFill>
            <a:srgbClr val="2A30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Shape 15"/>
          <p:cNvSpPr/>
          <p:nvPr/>
        </p:nvSpPr>
        <p:spPr>
          <a:xfrm>
            <a:off x="0" y="6620256"/>
            <a:ext cx="12198096" cy="13716"/>
          </a:xfrm>
          <a:prstGeom prst="rect">
            <a:avLst/>
          </a:prstGeom>
          <a:solidFill>
            <a:srgbClr val="2A30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6"/>
          <p:cNvSpPr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11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65760" y="6492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92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HackBuzz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850</Words>
  <Application>Microsoft Office PowerPoint</Application>
  <PresentationFormat>Widescreen</PresentationFormat>
  <Paragraphs>217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Segoe UI</vt:lpstr>
      <vt:lpstr>Segoe UI Emoji</vt:lpstr>
      <vt:lpstr>Segoe UI Light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HackBuzz — Real-Time Hackathon Engagement Platform</dc:title>
  <dc:subject>PptxGenJS Presentation</dc:subject>
  <dc:creator>HackBuzz</dc:creator>
  <cp:lastModifiedBy>David Jansen</cp:lastModifiedBy>
  <cp:revision>3</cp:revision>
  <dcterms:created xsi:type="dcterms:W3CDTF">2026-02-23T06:59:30Z</dcterms:created>
  <dcterms:modified xsi:type="dcterms:W3CDTF">2026-02-23T07:03:59Z</dcterms:modified>
</cp:coreProperties>
</file>